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7" r:id="rId13"/>
    <p:sldId id="268" r:id="rId14"/>
    <p:sldId id="269" r:id="rId15"/>
    <p:sldId id="270" r:id="rId16"/>
    <p:sldId id="259" r:id="rId17"/>
    <p:sldId id="276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333B34-A2A1-EF47-A011-71526FA6CEC8}" v="10" dt="2026-06-29T12:35:39.652"/>
    <p1510:client id="{B9FCED3C-31A2-724C-876D-04145C5B7773}" v="6" dt="2026-06-27T03:00:40.7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19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4039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0494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31.png"/><Relationship Id="rId10" Type="http://schemas.openxmlformats.org/officeDocument/2006/relationships/image" Target="../media/image33.png"/><Relationship Id="rId4" Type="http://schemas.openxmlformats.org/officeDocument/2006/relationships/image" Target="../media/image22.png"/><Relationship Id="rId9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2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732520" y="1371600"/>
            <a:ext cx="2743200" cy="2743200"/>
          </a:xfrm>
          <a:prstGeom prst="ellipse">
            <a:avLst/>
          </a:prstGeom>
          <a:solidFill>
            <a:srgbClr val="13241F"/>
          </a:solidFill>
          <a:ln w="19050">
            <a:solidFill>
              <a:srgbClr val="1F3A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201168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32520" y="4069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FB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vibes to context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Agentic Development</a:t>
            </a:r>
            <a:endParaRPr lang="en-US" sz="46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for Java Teams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58368" y="33375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Specs to Production with AI Agents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Meetup  ·  illustrated with one Interview Buddy app</a:t>
            </a: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8F0DAC6-0AC5-AF1F-3D5B-26DA09FF8901}"/>
              </a:ext>
            </a:extLst>
          </p:cNvPr>
          <p:cNvSpPr/>
          <p:nvPr/>
        </p:nvSpPr>
        <p:spPr>
          <a:xfrm>
            <a:off x="10464054" y="5692140"/>
            <a:ext cx="443256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Sumanth KS </a:t>
            </a:r>
            <a:br>
              <a:rPr lang="en-US" sz="13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Giridhar Gopal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ALL START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Vibe coding: prompt, accept, repeat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7000"/>
              </a:lnSpc>
              <a:buNone/>
            </a:pPr>
            <a:r>
              <a:rPr lang="en-US" sz="16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what you want in a chat, the AI writes something plausible, you eyeball it and move on. Fast and fun for a weekend hack — you’re coding on vibes, not on a shared understanding of the project.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67665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103120" y="2788920"/>
            <a:ext cx="4937760" cy="640080"/>
          </a:xfrm>
          <a:prstGeom prst="roundRect">
            <a:avLst>
              <a:gd name="adj" fmla="val 17143"/>
            </a:avLst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40280" y="27889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“Add an endpoint to schedule a mock interview for a candidate.”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3657600"/>
            <a:ext cx="4937760" cy="960120"/>
          </a:xfrm>
          <a:prstGeom prst="roundRect">
            <a:avLst>
              <a:gd name="adj" fmla="val 11429"/>
            </a:avLst>
          </a:prstGeom>
          <a:solidFill>
            <a:srgbClr val="0E1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88720" y="37490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C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Sure! Here’s a </a:t>
            </a:r>
            <a:r>
              <a:rPr lang="en-US" sz="13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InterviewController</a:t>
            </a:r>
            <a:r>
              <a:rPr lang="en-US" sz="1300" dirty="0">
                <a:solidFill>
                  <a:srgbClr val="DC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 POST mapping, a new service method, and a JPA save. 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3886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03120" y="4846320"/>
            <a:ext cx="4937760" cy="640080"/>
          </a:xfrm>
          <a:prstGeom prst="roundRect">
            <a:avLst>
              <a:gd name="adj" fmla="val 17143"/>
            </a:avLst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40280" y="48463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E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“Looks right — ship it.” 😎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4400" y="5029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80960" y="246888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0E1A17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973568" y="2761488"/>
            <a:ext cx="640080" cy="640080"/>
          </a:xfrm>
          <a:prstGeom prst="ellipse">
            <a:avLst/>
          </a:prstGeom>
          <a:solidFill>
            <a:srgbClr val="1F3A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9989" y="2927909"/>
            <a:ext cx="307238" cy="30723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73252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it never asked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001000" y="361188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layer pattern do we use?</a:t>
            </a:r>
            <a:endParaRPr lang="en-US" sz="1400" dirty="0"/>
          </a:p>
          <a:p>
            <a:pPr marL="177800" indent="-1778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candidate double-book a slot?</a:t>
            </a:r>
            <a:endParaRPr lang="en-US" sz="1400" dirty="0"/>
          </a:p>
          <a:p>
            <a:pPr marL="177800" indent="-1778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validate &amp; audit?</a:t>
            </a:r>
            <a:endParaRPr lang="en-US" sz="1400" dirty="0"/>
          </a:p>
          <a:p>
            <a:pPr marL="177800" indent="-1778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our tests look like?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E7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guessed. On a weekend project that’s fine. In a real codebase, guesses compound.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BREAKS DOWN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problems with coding on vibes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70048" cy="27889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075688"/>
            <a:ext cx="731520" cy="731520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" y="2265883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971800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Hallucinated APIs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Invents methods, beans and config that don’t exist in your project.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520440" y="1783080"/>
            <a:ext cx="2670048" cy="27889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794760" y="2075688"/>
            <a:ext cx="731520" cy="731520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4955" y="2265883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94760" y="2971800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Convention drift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794760" y="356616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injection here, constructor there — every file its own style.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0" y="1783080"/>
            <a:ext cx="2670048" cy="27889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675120" y="2075688"/>
            <a:ext cx="731520" cy="731520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5315" y="2265883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75120" y="2971800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Broken contracts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675120" y="356616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the rules that matter: validation, auditing, no double-booked slots.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281160" y="1783080"/>
            <a:ext cx="2670048" cy="27889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555480" y="2075688"/>
            <a:ext cx="731520" cy="731520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5675" y="2265883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55480" y="2971800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Re-explaining forever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9555480" y="356616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chat starts from zero; you paste the same context again and again.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40080" y="4846320"/>
            <a:ext cx="10972800" cy="1188720"/>
          </a:xfrm>
          <a:prstGeom prst="roundRect">
            <a:avLst>
              <a:gd name="adj" fmla="val 7692"/>
            </a:avLst>
          </a:prstGeom>
          <a:solidFill>
            <a:srgbClr val="0E1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914400" y="5074920"/>
            <a:ext cx="640080" cy="640080"/>
          </a:xfrm>
          <a:prstGeom prst="ellipse">
            <a:avLst/>
          </a:prstGeom>
          <a:solidFill>
            <a:srgbClr val="1F3A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821" y="5241341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91640" y="5029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cause:  </a:t>
            </a:r>
            <a:r>
              <a:rPr lang="en-US" sz="145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has no durable knowledge of </a:t>
            </a: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r>
              <a:rPr lang="en-US" sz="145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project. Each prompt is a fresh stranger doing their first day — with no onboarding.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YOU ACTUALLY FEEL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 unfinished task, with no context to fall back 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Halfway through the scheduling feature the session ends — context window fills, you close the laptop, a new chat begins. Without written context, the agent can’t resume; it restarts.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3241F"/>
          </a:solidFill>
          <a:ln w="15240">
            <a:solidFill>
              <a:srgbClr val="1F3A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77340" y="2633472"/>
            <a:ext cx="731520" cy="731520"/>
          </a:xfrm>
          <a:prstGeom prst="ellipse">
            <a:avLst/>
          </a:prstGeom>
          <a:solidFill>
            <a:srgbClr val="1F3A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535" y="2823667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45643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Started well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94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InterviewController + service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209544" y="301752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3538728" y="23774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3241F"/>
          </a:solidFill>
          <a:ln w="15240">
            <a:solidFill>
              <a:srgbClr val="1F3A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75988" y="2633472"/>
            <a:ext cx="731520" cy="731520"/>
          </a:xfrm>
          <a:prstGeom prst="ellipse">
            <a:avLst/>
          </a:prstGeom>
          <a:solidFill>
            <a:srgbClr val="1F3A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6183" y="2823667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38728" y="345643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Mid-task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721608" y="3794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half-written, DTO not mapped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108192" y="301752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7" name="Shape 13"/>
          <p:cNvSpPr/>
          <p:nvPr/>
        </p:nvSpPr>
        <p:spPr>
          <a:xfrm>
            <a:off x="6437376" y="23774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3241F"/>
          </a:solidFill>
          <a:ln w="15240">
            <a:solidFill>
              <a:srgbClr val="3A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374636" y="2633472"/>
            <a:ext cx="731520" cy="731520"/>
          </a:xfrm>
          <a:prstGeom prst="ellipse">
            <a:avLst/>
          </a:prstGeom>
          <a:solidFill>
            <a:srgbClr val="1F3A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4831" y="2823667"/>
            <a:ext cx="351130" cy="35113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37376" y="345643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CA5A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Session ends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620256" y="3794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lost — nothing written down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9006840" y="301752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3" name="Shape 18"/>
          <p:cNvSpPr/>
          <p:nvPr/>
        </p:nvSpPr>
        <p:spPr>
          <a:xfrm>
            <a:off x="9336024" y="23774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3241F"/>
          </a:solidFill>
          <a:ln w="15240">
            <a:solidFill>
              <a:srgbClr val="3A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10273284" y="2633472"/>
            <a:ext cx="731520" cy="731520"/>
          </a:xfrm>
          <a:prstGeom prst="ellipse">
            <a:avLst/>
          </a:prstGeom>
          <a:solidFill>
            <a:srgbClr val="1F3A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3479" y="2823667"/>
            <a:ext cx="351130" cy="35113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36024" y="345643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CA5A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New chat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518904" y="3794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were we building?” — starts over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640080" y="4617720"/>
            <a:ext cx="10972800" cy="1417320"/>
          </a:xfrm>
          <a:prstGeom prst="roundRect">
            <a:avLst>
              <a:gd name="adj" fmla="val 6452"/>
            </a:avLst>
          </a:prstGeom>
          <a:solidFill>
            <a:srgbClr val="13241F"/>
          </a:solidFill>
          <a:ln w="12700">
            <a:solidFill>
              <a:srgbClr val="1F3A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914400" y="4937760"/>
            <a:ext cx="640080" cy="640080"/>
          </a:xfrm>
          <a:prstGeom prst="ellipse">
            <a:avLst/>
          </a:prstGeom>
          <a:solidFill>
            <a:srgbClr val="1F3A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0821" y="5104181"/>
            <a:ext cx="307238" cy="30723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691640" y="4754880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memory, no map.  </a:t>
            </a:r>
            <a:r>
              <a:rPr lang="en-US" sz="145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that was already done isn’t lost in the repo — it’s lost in the agent’s head. Re-discovering “how this project does things” every single time is the tax you pay for having no written context.</a:t>
            </a:r>
            <a:endParaRPr lang="en-US" sz="1450" dirty="0"/>
          </a:p>
        </p:txBody>
      </p:sp>
      <p:sp>
        <p:nvSpPr>
          <p:cNvPr id="32" name="Text 25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“AGENTIC” ACTUALLY MEANS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 agent is a loop, not a one-shot answer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is one prompt, one reply. An agent keeps going on its own — it plans, edits files, runs the build, reads the result and corrects course. That autonomy is exactly why missing context hurts: it compounds across the loop.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13241F"/>
          </a:solidFill>
          <a:ln w="12700">
            <a:solidFill>
              <a:srgbClr val="1F3A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4672" y="2468880"/>
            <a:ext cx="502920" cy="502920"/>
          </a:xfrm>
          <a:prstGeom prst="ellipse">
            <a:avLst/>
          </a:prstGeom>
          <a:solidFill>
            <a:srgbClr val="1F3A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431" y="259963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42316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 Perceive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63040" y="273405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goal + repo: “add a daily session limit”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3227832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13241F"/>
          </a:solidFill>
          <a:ln w="12700">
            <a:solidFill>
              <a:srgbClr val="1F3A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04672" y="3364992"/>
            <a:ext cx="502920" cy="502920"/>
          </a:xfrm>
          <a:prstGeom prst="ellipse">
            <a:avLst/>
          </a:prstGeom>
          <a:solidFill>
            <a:srgbClr val="1F3A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31" y="3495751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331927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 Plan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463040" y="36301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InterviewService, entity, add tests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12394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13241F"/>
          </a:solidFill>
          <a:ln w="12700">
            <a:solidFill>
              <a:srgbClr val="1F3A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04672" y="4261104"/>
            <a:ext cx="502920" cy="502920"/>
          </a:xfrm>
          <a:prstGeom prst="ellipse">
            <a:avLst/>
          </a:prstGeom>
          <a:solidFill>
            <a:srgbClr val="1F3A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431" y="4391863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421538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 Act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463040" y="45262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code, runs mvn test &amp; the build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502005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13241F"/>
          </a:solidFill>
          <a:ln w="12700">
            <a:solidFill>
              <a:srgbClr val="1F3A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804672" y="5157216"/>
            <a:ext cx="502920" cy="502920"/>
          </a:xfrm>
          <a:prstGeom prst="ellipse">
            <a:avLst/>
          </a:prstGeom>
          <a:solidFill>
            <a:srgbClr val="1F3A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431" y="5287975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63040" y="511149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 Reflect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463040" y="54223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Year-end test fails → fixes &amp; repeats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40080" y="59344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↻  repeats until the task is done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355080" y="2331720"/>
            <a:ext cx="5166360" cy="3611880"/>
          </a:xfrm>
          <a:prstGeom prst="roundRect">
            <a:avLst>
              <a:gd name="adj" fmla="val 2532"/>
            </a:avLst>
          </a:prstGeom>
          <a:solidFill>
            <a:srgbClr val="13241F"/>
          </a:solidFill>
          <a:ln w="15240">
            <a:solidFill>
              <a:srgbClr val="1F3A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6675120" y="2624328"/>
            <a:ext cx="685800" cy="685800"/>
          </a:xfrm>
          <a:prstGeom prst="ellipse">
            <a:avLst/>
          </a:prstGeom>
          <a:solidFill>
            <a:srgbClr val="1F3A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3428" y="2802636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498080" y="27432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 stay in the loop</a:t>
            </a:r>
            <a:endParaRPr lang="en-US" sz="1900" dirty="0"/>
          </a:p>
        </p:txBody>
      </p:sp>
      <p:sp>
        <p:nvSpPr>
          <p:cNvPr id="30" name="Text 23"/>
          <p:cNvSpPr/>
          <p:nvPr/>
        </p:nvSpPr>
        <p:spPr>
          <a:xfrm>
            <a:off x="6720840" y="3520440"/>
            <a:ext cx="4434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propose; humans approve the gates that matter.</a:t>
            </a:r>
            <a:endParaRPr lang="en-US" sz="1400" dirty="0"/>
          </a:p>
          <a:p>
            <a:pPr marL="190500" indent="-1905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sandboxed — tests, linters, build; not prod creds.</a:t>
            </a:r>
            <a:endParaRPr lang="en-US" sz="1400" dirty="0"/>
          </a:p>
          <a:p>
            <a:pPr marL="190500" indent="-1905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a candidate’s score stays a human decision.</a:t>
            </a:r>
            <a:endParaRPr lang="en-US" sz="1400" dirty="0"/>
          </a:p>
          <a:p>
            <a:pPr marL="190500" indent="-1905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is a dial, not a switch — turn it up as trust grows.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the context down, once, in the repo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files are plain markdown that lives beside your code. The agent reads them on every run — so the onboarding happens once, not every prompt. Three names you’ll meet, same core idea: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593592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651760"/>
            <a:ext cx="777240" cy="777240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202" y="285384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2651760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E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copilot-</a:t>
            </a:r>
            <a:endParaRPr lang="en-US" sz="15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E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instructions.md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60120" y="370332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0120" y="4069080"/>
            <a:ext cx="2953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Repo-wide rules Copilot applies to every suggestion &amp; chat.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480560" y="2331720"/>
            <a:ext cx="3593592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00600" y="2651760"/>
            <a:ext cx="777240" cy="777240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2682" y="2853842"/>
            <a:ext cx="373075" cy="3730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60720" y="2651760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E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800600" y="370332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CLAUDE CODE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800600" y="4069080"/>
            <a:ext cx="2953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memory Claude loads automatically each session.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8321040" y="2331720"/>
            <a:ext cx="3593592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641080" y="2651760"/>
            <a:ext cx="777240" cy="777240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3162" y="2853842"/>
            <a:ext cx="373075" cy="37307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601200" y="2651760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E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AGENTS.md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641080" y="370332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STANDARD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641080" y="4069080"/>
            <a:ext cx="2953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Vendor-neutral file many agents read — one file, many tools.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E7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ecosystems, same job: give the agent a briefing it can actually read.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FILES · 1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copilot-instructions.md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Copilot’s repo-wide briefing — lives in .github/ and applies to every suggestion.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635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404872"/>
            <a:ext cx="640080" cy="640080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2571293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29514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it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91640" y="262432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markdown file Copilot auto-loads for the whole repo. No need to repeat rules in each prompt.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474720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635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68680" y="3730752"/>
            <a:ext cx="640080" cy="640080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01" y="3897173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6210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691640" y="395020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Steers inline completions and Copilot Chat toward your stack, patterns and guardrails.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800600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635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68680" y="5056632"/>
            <a:ext cx="640080" cy="640080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101" y="5223053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9469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it contains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691640" y="527608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stack, architectural patterns, coding standards, and project-specific do’s &amp; don’ts.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355080" y="2148840"/>
            <a:ext cx="5166360" cy="3977640"/>
          </a:xfrm>
          <a:prstGeom prst="roundRect">
            <a:avLst>
              <a:gd name="adj" fmla="val 2299"/>
            </a:avLst>
          </a:prstGeom>
          <a:solidFill>
            <a:srgbClr val="0E1A17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6629400" y="235000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.github/copilot-instructions.md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629400" y="2715768"/>
            <a:ext cx="46634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Interview Buddy — Copilot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Stack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Boot 3, JDK 21, Postgres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Always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Constructor injection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DTOs at the web layer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Never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Expose entities in the API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Allow double-booked slots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FILES · 2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CLAUDE.md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Code’s project memory — loaded automatically at the start of every session.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635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404872"/>
            <a:ext cx="640080" cy="640080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2571293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29514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it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91640" y="262432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memory file Claude reads on launch. Can sit at repo root, in subfolders, or your home dir.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474720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635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68680" y="3730752"/>
            <a:ext cx="640080" cy="640080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01" y="3897173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6210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691640" y="395020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Claude standing context + the exact commands to build, test and run before it acts.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800600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635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68680" y="5056632"/>
            <a:ext cx="640080" cy="640080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101" y="5223053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9469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it contains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691640" y="527608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overview, key commands, conventions, and links to deeper docs or sub-module files.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355080" y="2148840"/>
            <a:ext cx="5166360" cy="3977640"/>
          </a:xfrm>
          <a:prstGeom prst="roundRect">
            <a:avLst>
              <a:gd name="adj" fmla="val 2299"/>
            </a:avLst>
          </a:prstGeom>
          <a:solidFill>
            <a:srgbClr val="0E1A17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6629400" y="235000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629400" y="2715768"/>
            <a:ext cx="46634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CLAUDE.md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Commands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build:  mvn clean verify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test:   mvn test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run:    mvn spring-boot:run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Conventions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Tests: JUnit 5 + Testcontainers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 overlapping interview slots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Mask candidate PII in logs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FILES · 3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AGENTS.md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open, vendor-neutral standard — one file that many different agents agree to read.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635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404872"/>
            <a:ext cx="640080" cy="640080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2571293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29514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it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91640" y="262432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convention adopted across tools, so you don’t maintain a separate file per vendor.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474720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635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68680" y="3730752"/>
            <a:ext cx="640080" cy="640080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01" y="3897173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6210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691640" y="395020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the single source of truth; tool-specific files can point back to it.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800600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635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68680" y="5056632"/>
            <a:ext cx="640080" cy="640080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101" y="5223053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9469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it contains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691640" y="527608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build &amp; test steps, code style, PR/commit rules — the same briefing, tool-agnostic.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355080" y="2148840"/>
            <a:ext cx="5166360" cy="3977640"/>
          </a:xfrm>
          <a:prstGeom prst="roundRect">
            <a:avLst>
              <a:gd name="adj" fmla="val 2299"/>
            </a:avLst>
          </a:prstGeom>
          <a:solidFill>
            <a:srgbClr val="0E1A17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6629400" y="235000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AGENTS.md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629400" y="2715768"/>
            <a:ext cx="46634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AGENTS.md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Setup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JDK 21 + Docker for Postgres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Testing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Run: mvn test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New logic needs a unit test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Pull requests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Conventional commits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Green build before review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Think of it as the new hire’s onboarding binder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brilliant contractor joins every morning with total amnesia. Without an onboarding binder, you brief them from scratch daily. Instruction files are that binder — written once, read every day.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9728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635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450592"/>
            <a:ext cx="512064" cy="512064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817" y="2583729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404872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amnesiac contractor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166360" y="2404872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the AI assistant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0" y="240487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and fast, but remembers nothing once the session ends.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3246120"/>
            <a:ext cx="109728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635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68680" y="3410712"/>
            <a:ext cx="512064" cy="512064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817" y="3543849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54480" y="3364992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onboarding binder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166360" y="3364992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CLAUDE.md / AGENTS.md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046720" y="336499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rules, stack, conventions — the briefing they read first.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4206240"/>
            <a:ext cx="109728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635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68680" y="4370832"/>
            <a:ext cx="512064" cy="512064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817" y="4503969"/>
            <a:ext cx="245791" cy="24579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54480" y="4325112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“How we do things here”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5166360" y="4325112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coding standards &amp; guardrails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8046720" y="432511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injection, mask candidate PII, never double-book a slot.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40080" y="5166360"/>
            <a:ext cx="109728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635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868680" y="5330952"/>
            <a:ext cx="512064" cy="512064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817" y="5464089"/>
            <a:ext cx="245791" cy="24579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54480" y="5285232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Updating the binder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5166360" y="5285232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evolving the file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8046720" y="528523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time they trip on something new, you write it down for next time.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E7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Persistent, project-specific context — so the agent starts every session already onboarded.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THEM ALIVE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These files grow with the codebase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try to write the perfect file on day one. Start tiny, then promote a rule every time you catch the agent guessing wrong. Code first — distil the lessons back into the file.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3241F"/>
          </a:solidFill>
          <a:ln w="15240">
            <a:solidFill>
              <a:srgbClr val="1F3A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32688" y="2560320"/>
            <a:ext cx="502920" cy="502920"/>
          </a:xfrm>
          <a:prstGeom prst="ellipse">
            <a:avLst/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2569464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26060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2688" y="32004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code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32688" y="36118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scheduling feature with the agent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27832" y="299466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3538728" y="22860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3241F"/>
          </a:solidFill>
          <a:ln w="15240">
            <a:solidFill>
              <a:srgbClr val="1F3A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831336" y="25603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831336" y="2569464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9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088" y="260604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831336" y="32004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Spot a gap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831336" y="36118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used field injection — against our style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126480" y="299466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9" name="Shape 15"/>
          <p:cNvSpPr/>
          <p:nvPr/>
        </p:nvSpPr>
        <p:spPr>
          <a:xfrm>
            <a:off x="6437376" y="22860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3241F"/>
          </a:solidFill>
          <a:ln w="15240">
            <a:solidFill>
              <a:srgbClr val="1F3A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729984" y="2560320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729984" y="2569464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9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260604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729984" y="32004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Promote a rule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729984" y="36118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“constructor injection only” to the file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9025128" y="299466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6" name="Shape 21"/>
          <p:cNvSpPr/>
          <p:nvPr/>
        </p:nvSpPr>
        <p:spPr>
          <a:xfrm>
            <a:off x="9336024" y="22860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3241F"/>
          </a:solidFill>
          <a:ln w="15240">
            <a:solidFill>
              <a:srgbClr val="1F3A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9628632" y="2560320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9628632" y="2569464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9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3384" y="2606040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628632" y="32004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Next time it’s right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9628632" y="36118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follows it without being told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640080" y="4389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↺  repeat as the codebase grows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640080" y="4983480"/>
            <a:ext cx="3593592" cy="1097280"/>
          </a:xfrm>
          <a:prstGeom prst="roundRect">
            <a:avLst>
              <a:gd name="adj" fmla="val 7500"/>
            </a:avLst>
          </a:prstGeom>
          <a:solidFill>
            <a:srgbClr val="13241F"/>
          </a:solidFill>
          <a:ln w="12700">
            <a:solidFill>
              <a:srgbClr val="1F3A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841248" y="5230368"/>
            <a:ext cx="594360" cy="594360"/>
          </a:xfrm>
          <a:prstGeom prst="ellipse">
            <a:avLst/>
          </a:prstGeom>
          <a:solidFill>
            <a:srgbClr val="1F3A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782" y="5384902"/>
            <a:ext cx="285293" cy="285293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554480" y="5148072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A3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Coding guidelines</a:t>
            </a:r>
            <a:endParaRPr lang="en-US" sz="1450" dirty="0"/>
          </a:p>
        </p:txBody>
      </p:sp>
      <p:sp>
        <p:nvSpPr>
          <p:cNvPr id="37" name="Text 30"/>
          <p:cNvSpPr/>
          <p:nvPr/>
        </p:nvSpPr>
        <p:spPr>
          <a:xfrm>
            <a:off x="1554480" y="5468112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Naming, layering, error handling — added as patterns settle.</a:t>
            </a:r>
            <a:endParaRPr lang="en-US" sz="1150" dirty="0"/>
          </a:p>
        </p:txBody>
      </p:sp>
      <p:sp>
        <p:nvSpPr>
          <p:cNvPr id="38" name="Shape 31"/>
          <p:cNvSpPr/>
          <p:nvPr/>
        </p:nvSpPr>
        <p:spPr>
          <a:xfrm>
            <a:off x="4480560" y="4983480"/>
            <a:ext cx="3593592" cy="1097280"/>
          </a:xfrm>
          <a:prstGeom prst="roundRect">
            <a:avLst>
              <a:gd name="adj" fmla="val 7500"/>
            </a:avLst>
          </a:prstGeom>
          <a:solidFill>
            <a:srgbClr val="13241F"/>
          </a:solidFill>
          <a:ln w="12700">
            <a:solidFill>
              <a:srgbClr val="1F3A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/>
          <p:nvPr/>
        </p:nvSpPr>
        <p:spPr>
          <a:xfrm>
            <a:off x="4681728" y="5230368"/>
            <a:ext cx="594360" cy="594360"/>
          </a:xfrm>
          <a:prstGeom prst="ellipse">
            <a:avLst/>
          </a:prstGeom>
          <a:solidFill>
            <a:srgbClr val="1F3A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6262" y="5384902"/>
            <a:ext cx="285293" cy="285293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394960" y="5148072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A3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Unit-test standards</a:t>
            </a:r>
            <a:endParaRPr lang="en-US" sz="1450" dirty="0"/>
          </a:p>
        </p:txBody>
      </p:sp>
      <p:sp>
        <p:nvSpPr>
          <p:cNvPr id="42" name="Text 34"/>
          <p:cNvSpPr/>
          <p:nvPr/>
        </p:nvSpPr>
        <p:spPr>
          <a:xfrm>
            <a:off x="5394960" y="5468112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 service method needs a test” — once your test style exists.</a:t>
            </a:r>
            <a:endParaRPr lang="en-US" sz="1150" dirty="0"/>
          </a:p>
        </p:txBody>
      </p:sp>
      <p:sp>
        <p:nvSpPr>
          <p:cNvPr id="43" name="Shape 35"/>
          <p:cNvSpPr/>
          <p:nvPr/>
        </p:nvSpPr>
        <p:spPr>
          <a:xfrm>
            <a:off x="8321040" y="4983480"/>
            <a:ext cx="3593592" cy="1097280"/>
          </a:xfrm>
          <a:prstGeom prst="roundRect">
            <a:avLst>
              <a:gd name="adj" fmla="val 7500"/>
            </a:avLst>
          </a:prstGeom>
          <a:solidFill>
            <a:srgbClr val="13241F"/>
          </a:solidFill>
          <a:ln w="12700">
            <a:solidFill>
              <a:srgbClr val="1F3A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6"/>
          <p:cNvSpPr/>
          <p:nvPr/>
        </p:nvSpPr>
        <p:spPr>
          <a:xfrm>
            <a:off x="8522208" y="5230368"/>
            <a:ext cx="594360" cy="594360"/>
          </a:xfrm>
          <a:prstGeom prst="ellipse">
            <a:avLst/>
          </a:prstGeom>
          <a:solidFill>
            <a:srgbClr val="1F3A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6742" y="5384902"/>
            <a:ext cx="285293" cy="285293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9235440" y="5148072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A3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Hard-won gotchas</a:t>
            </a:r>
            <a:endParaRPr lang="en-US" sz="1450" dirty="0"/>
          </a:p>
        </p:txBody>
      </p:sp>
      <p:sp>
        <p:nvSpPr>
          <p:cNvPr id="47" name="Text 38"/>
          <p:cNvSpPr/>
          <p:nvPr/>
        </p:nvSpPr>
        <p:spPr>
          <a:xfrm>
            <a:off x="9235440" y="5468112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 cases that bit you, written down so they never repeat.</a:t>
            </a:r>
            <a:endParaRPr lang="en-US" sz="1150" dirty="0"/>
          </a:p>
        </p:txBody>
      </p:sp>
      <p:sp>
        <p:nvSpPr>
          <p:cNvPr id="48" name="Text 39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8A6D64-31C5-C55E-10CC-34F0FBEC7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97" y="643467"/>
            <a:ext cx="10817605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5385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PLUGS INTO YOUR SDLC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Spec-Driven Development across the lifecycle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files say how we build. A spec says what we’re building this time — and it maps onto the lifecycle phases you already use. AI helps you research, plan and implement; the spec is the source of truth that carries context between them.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4334256" cy="365760"/>
          </a:xfrm>
          <a:prstGeom prst="roundRect">
            <a:avLst>
              <a:gd name="adj" fmla="val 15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350008"/>
            <a:ext cx="4334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138928" y="2331720"/>
            <a:ext cx="2084832" cy="36576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38928" y="2350008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88352" y="2331720"/>
            <a:ext cx="2084832" cy="365760"/>
          </a:xfrm>
          <a:prstGeom prst="roundRect">
            <a:avLst>
              <a:gd name="adj" fmla="val 15000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88352" y="2350008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37776" y="2331720"/>
            <a:ext cx="2084832" cy="365760"/>
          </a:xfrm>
          <a:prstGeom prst="roundRect">
            <a:avLst>
              <a:gd name="adj" fmla="val 15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37776" y="2350008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788920"/>
            <a:ext cx="2084832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335024" y="2990088"/>
            <a:ext cx="694944" cy="694944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709" y="3170773"/>
            <a:ext cx="333573" cy="333573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40080" y="3749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Specify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86384" y="4114800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Behaviour, edge cases, acceptance — in plain markdown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688336" y="354330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2889504" y="2788920"/>
            <a:ext cx="2084832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584448" y="2990088"/>
            <a:ext cx="694944" cy="694944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5133" y="3170773"/>
            <a:ext cx="333573" cy="33357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889504" y="3749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Design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3035808" y="4114800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 &amp; integration points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937760" y="354330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1"/>
          <p:cNvSpPr/>
          <p:nvPr/>
        </p:nvSpPr>
        <p:spPr>
          <a:xfrm>
            <a:off x="5138928" y="2788920"/>
            <a:ext cx="2084832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5833872" y="2990088"/>
            <a:ext cx="694944" cy="694944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4557" y="3170773"/>
            <a:ext cx="333573" cy="333573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138928" y="3749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Tasks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5285232" y="4114800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reviewable, testable units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7187184" y="354330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1" name="Shape 26"/>
          <p:cNvSpPr/>
          <p:nvPr/>
        </p:nvSpPr>
        <p:spPr>
          <a:xfrm>
            <a:off x="7388352" y="2788920"/>
            <a:ext cx="2084832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8083296" y="2990088"/>
            <a:ext cx="694944" cy="694944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3981" y="3170773"/>
            <a:ext cx="333573" cy="333573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388352" y="3749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Build</a:t>
            </a:r>
            <a:endParaRPr lang="en-US" sz="1500" dirty="0"/>
          </a:p>
        </p:txBody>
      </p:sp>
      <p:sp>
        <p:nvSpPr>
          <p:cNvPr id="35" name="Text 29"/>
          <p:cNvSpPr/>
          <p:nvPr/>
        </p:nvSpPr>
        <p:spPr>
          <a:xfrm>
            <a:off x="7534656" y="4114800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writes the Java against the spec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9436608" y="354330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7" name="Shape 31"/>
          <p:cNvSpPr/>
          <p:nvPr/>
        </p:nvSpPr>
        <p:spPr>
          <a:xfrm>
            <a:off x="9637776" y="2788920"/>
            <a:ext cx="2084832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10332720" y="2990088"/>
            <a:ext cx="694944" cy="694944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3405" y="3170773"/>
            <a:ext cx="333573" cy="333573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9637776" y="3749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Verify</a:t>
            </a:r>
            <a:endParaRPr lang="en-US" sz="1500" dirty="0"/>
          </a:p>
        </p:txBody>
      </p:sp>
      <p:sp>
        <p:nvSpPr>
          <p:cNvPr id="41" name="Text 34"/>
          <p:cNvSpPr/>
          <p:nvPr/>
        </p:nvSpPr>
        <p:spPr>
          <a:xfrm>
            <a:off x="9784080" y="4114800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against the spec, not vibes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640080" y="5074920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0E1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6"/>
          <p:cNvSpPr/>
          <p:nvPr/>
        </p:nvSpPr>
        <p:spPr>
          <a:xfrm>
            <a:off x="914400" y="5239512"/>
            <a:ext cx="566928" cy="566928"/>
          </a:xfrm>
          <a:prstGeom prst="ellipse">
            <a:avLst/>
          </a:prstGeom>
          <a:solidFill>
            <a:srgbClr val="1F3A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1801" y="5386913"/>
            <a:ext cx="272125" cy="272125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1645920" y="5138928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adopt:  </a:t>
            </a:r>
            <a:r>
              <a:rPr lang="en-US" sz="135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big rewrite — add a spec for the next change, keep your instruction files, and let AI carry research → plan → implement with the spec as the thread between them.</a:t>
            </a:r>
            <a:endParaRPr lang="en-US" sz="1350" dirty="0"/>
          </a:p>
        </p:txBody>
      </p:sp>
      <p:sp>
        <p:nvSpPr>
          <p:cNvPr id="46" name="Text 38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FOR SDD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OpenSpec: a lightweight spec layer in your repo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no API keys, works with 20+ assistants via slash commands. It keeps specs beside your code so context survives when the chat ends — and it’s brownfield-first, built for existing codebases.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0" cy="1097280"/>
          </a:xfrm>
          <a:prstGeom prst="roundRect">
            <a:avLst>
              <a:gd name="adj" fmla="val 7500"/>
            </a:avLst>
          </a:prstGeom>
          <a:solidFill>
            <a:srgbClr val="13241F"/>
          </a:solidFill>
          <a:ln w="12700">
            <a:solidFill>
              <a:srgbClr val="1F3A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578608"/>
            <a:ext cx="603504" cy="603504"/>
          </a:xfrm>
          <a:prstGeom prst="ellipse">
            <a:avLst/>
          </a:prstGeom>
          <a:solidFill>
            <a:srgbClr val="1F3A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591" y="2735519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47802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 Propose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45920" y="28346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change — AI drafts proposal.md, specs/, design.md, tasks.md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3593592"/>
            <a:ext cx="5486400" cy="1097280"/>
          </a:xfrm>
          <a:prstGeom prst="roundRect">
            <a:avLst>
              <a:gd name="adj" fmla="val 7500"/>
            </a:avLst>
          </a:prstGeom>
          <a:solidFill>
            <a:srgbClr val="13241F"/>
          </a:solidFill>
          <a:ln w="12700">
            <a:solidFill>
              <a:srgbClr val="1F3A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68680" y="3840480"/>
            <a:ext cx="603504" cy="603504"/>
          </a:xfrm>
          <a:prstGeom prst="ellipse">
            <a:avLst/>
          </a:prstGeom>
          <a:solidFill>
            <a:srgbClr val="1F3A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591" y="3997391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373989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 Apply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645920" y="409651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tasks against the agreed spec, step by step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4855464"/>
            <a:ext cx="5486400" cy="1097280"/>
          </a:xfrm>
          <a:prstGeom prst="roundRect">
            <a:avLst>
              <a:gd name="adj" fmla="val 7500"/>
            </a:avLst>
          </a:prstGeom>
          <a:solidFill>
            <a:srgbClr val="13241F"/>
          </a:solidFill>
          <a:ln w="12700">
            <a:solidFill>
              <a:srgbClr val="1F3A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68680" y="5102352"/>
            <a:ext cx="603504" cy="603504"/>
          </a:xfrm>
          <a:prstGeom prst="ellipse">
            <a:avLst/>
          </a:prstGeom>
          <a:solidFill>
            <a:srgbClr val="1F3A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591" y="5259263"/>
            <a:ext cx="289682" cy="28968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500176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A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 Archive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645920" y="535838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the delta into the living specs/ source of truth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355080" y="2331720"/>
            <a:ext cx="5166360" cy="3794760"/>
          </a:xfrm>
          <a:prstGeom prst="roundRect">
            <a:avLst>
              <a:gd name="adj" fmla="val 2410"/>
            </a:avLst>
          </a:prstGeom>
          <a:solidFill>
            <a:srgbClr val="06100D"/>
          </a:solidFill>
          <a:ln w="12700">
            <a:solidFill>
              <a:srgbClr val="1F3A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6629400" y="256032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openspec init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9FB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added slash commands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9FB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/openspec:propose \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add-session-limit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9FB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openspec/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EA5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specs/        # source of truth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changes/      # proposals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add-session-limit/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9FB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proposal.md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9FB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design.md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9FB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tasks.md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9FB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specs/   # the delta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WHAT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Reusable prompts &amp; skills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files and specs are passive context the agent reads. Prompts and skills are active building blocks you invoke — packaged know-how you don’t want to retype.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492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606040"/>
            <a:ext cx="777240" cy="777240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202" y="280812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274320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Reusable prompts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05840" y="356616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Saved, parameterised instructions for recurring tasks.</a:t>
            </a:r>
            <a:endParaRPr lang="en-US" sz="1300" dirty="0"/>
          </a:p>
          <a:p>
            <a:pPr marL="177800" indent="-1778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“New REST endpoint for &lt;Interview resource&gt;” scaffolds controller + DTO + test.</a:t>
            </a:r>
            <a:endParaRPr lang="en-US" sz="1300" dirty="0"/>
          </a:p>
          <a:p>
            <a:pPr marL="177800" indent="-1778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Invoked on demand — often as slash commands.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2286000"/>
            <a:ext cx="53492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83680" y="2606040"/>
            <a:ext cx="777240" cy="777240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5762" y="280812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43800" y="274320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Skills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629400" y="356616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Folders of procedural know-how the agent loads when relevant.</a:t>
            </a:r>
            <a:endParaRPr lang="en-US" sz="1300" dirty="0"/>
          </a:p>
          <a:p>
            <a:pPr marL="177800" indent="-1778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 “score-rubric” skill: how we grade and store interview results.</a:t>
            </a:r>
            <a:endParaRPr lang="en-US" sz="1300" dirty="0"/>
          </a:p>
          <a:p>
            <a:pPr marL="177800" indent="-1778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instructions + scripts + examples, reused across projects.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4892040"/>
            <a:ext cx="10972800" cy="1143000"/>
          </a:xfrm>
          <a:prstGeom prst="roundRect">
            <a:avLst>
              <a:gd name="adj" fmla="val 8000"/>
            </a:avLst>
          </a:prstGeom>
          <a:solidFill>
            <a:srgbClr val="0E1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914400" y="5120640"/>
            <a:ext cx="640080" cy="640080"/>
          </a:xfrm>
          <a:prstGeom prst="ellipse">
            <a:avLst/>
          </a:prstGeom>
          <a:solidFill>
            <a:srgbClr val="1F3A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821" y="528706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5029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fit:  </a:t>
            </a:r>
            <a:r>
              <a:rPr lang="en-US" sz="14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files set the ground rules · specs define this change ·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&amp; skills are the power tools</a:t>
            </a:r>
            <a:r>
              <a:rPr lang="en-US" sz="14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agent reaches for to do the work consistently.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 BEHIND THE DRIFT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Tokens &amp; the context window: the agent’s short-term memory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reads and writes in tokens (≈ ¾ of a word). Everything it can “see” at once — your prompt, the files, its own replies — must fit in a fixed context window. It has no memory beyond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21208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441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fills the window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2898648"/>
            <a:ext cx="822960" cy="1051560"/>
          </a:xfrm>
          <a:prstGeom prst="rect">
            <a:avLst/>
          </a:prstGeom>
          <a:solidFill>
            <a:srgbClr val="0EA5A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783080" y="2898648"/>
            <a:ext cx="1554480" cy="1051560"/>
          </a:xfrm>
          <a:prstGeom prst="rect">
            <a:avLst/>
          </a:prstGeom>
          <a:solidFill>
            <a:srgbClr val="16A34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37560" y="2898648"/>
            <a:ext cx="1280160" cy="1051560"/>
          </a:xfrm>
          <a:prstGeom prst="rect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17720" y="2898648"/>
            <a:ext cx="914400" cy="1051560"/>
          </a:xfrm>
          <a:prstGeom prst="rect">
            <a:avLst/>
          </a:prstGeom>
          <a:solidFill>
            <a:srgbClr val="DCE6E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407822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+ instruction files</a:t>
            </a:r>
            <a:endParaRPr lang="en-US" sz="110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&amp; files in play</a:t>
            </a:r>
            <a:endParaRPr lang="en-US" sz="110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so far</a:t>
            </a:r>
            <a:endParaRPr lang="en-US" sz="110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left to think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24028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635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09360" y="2386584"/>
            <a:ext cx="548640" cy="548640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006" y="2529230"/>
            <a:ext cx="263347" cy="263347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995160" y="235000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Fill it up and it forgets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995160" y="265176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window is full, the oldest context falls out — the agent literally loses the early part of the task.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126480" y="320040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635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309360" y="3346704"/>
            <a:ext cx="548640" cy="548640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006" y="3489350"/>
            <a:ext cx="263347" cy="263347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995160" y="331012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 token is paid for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995160" y="361188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latency scale with tokens. Re-pasting the whole project each prompt is slow and expensive.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126480" y="416052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635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6309360" y="4306824"/>
            <a:ext cx="548640" cy="548640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2006" y="4449470"/>
            <a:ext cx="263347" cy="263347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995160" y="427024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Written context is the fix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995160" y="45720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specs and graphs load just what’s needed — so the window holds signal, not noise.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64008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i="1" dirty="0">
                <a:solidFill>
                  <a:srgbClr val="0E7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vibe coding drifts and unfinished tasks get abandoned — and why everything that follows is about feeding the window well.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52967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7C49ED-40F9-606D-4EAA-E49BF20B1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397" y="643467"/>
            <a:ext cx="10413206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762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ACROSS THE WHOLE 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Knowledge graph: linking it all together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give context one document at a time. A knowledge graph maps how everything relates — so an agent can reason across the system instead of re-reading files one by 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0" y="4023360"/>
            <a:ext cx="0" cy="0"/>
          </a:xfrm>
          <a:prstGeom prst="line">
            <a:avLst/>
          </a:prstGeom>
          <a:noFill/>
          <a:ln w="25400">
            <a:solidFill>
              <a:srgbClr val="1F3A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flipV="1">
            <a:off x="3200400" y="2843784"/>
            <a:ext cx="1884118" cy="1179576"/>
          </a:xfrm>
          <a:prstGeom prst="line">
            <a:avLst/>
          </a:prstGeom>
          <a:noFill/>
          <a:ln w="25400">
            <a:solidFill>
              <a:srgbClr val="1F3A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flipH="1">
            <a:off x="1234440" y="4023360"/>
            <a:ext cx="1965960" cy="1097280"/>
          </a:xfrm>
          <a:prstGeom prst="line">
            <a:avLst/>
          </a:prstGeom>
          <a:noFill/>
          <a:ln w="25400">
            <a:solidFill>
              <a:srgbClr val="1F3A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0" y="4023360"/>
            <a:ext cx="2057400" cy="1280160"/>
          </a:xfrm>
          <a:prstGeom prst="line">
            <a:avLst/>
          </a:prstGeom>
          <a:noFill/>
          <a:ln w="25400">
            <a:solidFill>
              <a:srgbClr val="1F3A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88720" y="2697480"/>
            <a:ext cx="0" cy="2560320"/>
          </a:xfrm>
          <a:prstGeom prst="line">
            <a:avLst/>
          </a:prstGeom>
          <a:noFill/>
          <a:ln w="19050">
            <a:solidFill>
              <a:srgbClr val="1F3A3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212080" y="2743200"/>
            <a:ext cx="45720" cy="2560320"/>
          </a:xfrm>
          <a:prstGeom prst="line">
            <a:avLst/>
          </a:prstGeom>
          <a:noFill/>
          <a:ln w="19050">
            <a:solidFill>
              <a:srgbClr val="1F3A3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51760" y="3474720"/>
            <a:ext cx="1097280" cy="1097280"/>
          </a:xfrm>
          <a:prstGeom prst="ellipse">
            <a:avLst/>
          </a:prstGeom>
          <a:solidFill>
            <a:srgbClr val="16A34A"/>
          </a:solidFill>
          <a:ln w="25400">
            <a:solidFill>
              <a:srgbClr val="16A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0322" y="3639312"/>
            <a:ext cx="340157" cy="34015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560320" y="400507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0E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1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0E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7240" y="2286000"/>
            <a:ext cx="822960" cy="822960"/>
          </a:xfrm>
          <a:prstGeom prst="ellipse">
            <a:avLst/>
          </a:prstGeom>
          <a:solidFill>
            <a:srgbClr val="13241F"/>
          </a:solidFill>
          <a:ln w="254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161" y="2442362"/>
            <a:ext cx="255118" cy="25511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2880" y="2730398"/>
            <a:ext cx="2011680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InterviewService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800600" y="2331720"/>
            <a:ext cx="822960" cy="822960"/>
          </a:xfrm>
          <a:prstGeom prst="ellipse">
            <a:avLst/>
          </a:prstGeom>
          <a:solidFill>
            <a:srgbClr val="13241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521" y="2488082"/>
            <a:ext cx="255118" cy="25511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206240" y="277611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85800" y="4846320"/>
            <a:ext cx="822960" cy="822960"/>
          </a:xfrm>
          <a:prstGeom prst="ellipse">
            <a:avLst/>
          </a:prstGeom>
          <a:solidFill>
            <a:srgbClr val="13241F"/>
          </a:solidFill>
          <a:ln w="254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721" y="5002682"/>
            <a:ext cx="255118" cy="2551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" y="529071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846320" y="4892040"/>
            <a:ext cx="822960" cy="822960"/>
          </a:xfrm>
          <a:prstGeom prst="ellipse">
            <a:avLst/>
          </a:prstGeom>
          <a:solidFill>
            <a:srgbClr val="13241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0241" y="5048402"/>
            <a:ext cx="255118" cy="25511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251960" y="533643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6675120" y="2331720"/>
            <a:ext cx="4846320" cy="1078992"/>
          </a:xfrm>
          <a:prstGeom prst="roundRect">
            <a:avLst>
              <a:gd name="adj" fmla="val 6780"/>
            </a:avLst>
          </a:prstGeom>
          <a:solidFill>
            <a:srgbClr val="13241F"/>
          </a:solidFill>
          <a:ln w="12700">
            <a:solidFill>
              <a:srgbClr val="1F3A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6894576" y="2587752"/>
            <a:ext cx="566928" cy="566928"/>
          </a:xfrm>
          <a:prstGeom prst="ellipse">
            <a:avLst/>
          </a:prstGeom>
          <a:solidFill>
            <a:srgbClr val="1F3A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1977" y="2735153"/>
            <a:ext cx="272125" cy="27212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635240" y="249631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Everything connects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7635240" y="284378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→ service → test → candidate, as queryable relationships.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6675120" y="3566160"/>
            <a:ext cx="4846320" cy="1078992"/>
          </a:xfrm>
          <a:prstGeom prst="roundRect">
            <a:avLst>
              <a:gd name="adj" fmla="val 6780"/>
            </a:avLst>
          </a:prstGeom>
          <a:solidFill>
            <a:srgbClr val="13241F"/>
          </a:solidFill>
          <a:ln w="12700">
            <a:solidFill>
              <a:srgbClr val="1F3A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>
            <a:off x="6894576" y="3822192"/>
            <a:ext cx="566928" cy="566928"/>
          </a:xfrm>
          <a:prstGeom prst="ellipse">
            <a:avLst/>
          </a:prstGeom>
          <a:solidFill>
            <a:srgbClr val="1F3A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1977" y="3969593"/>
            <a:ext cx="272125" cy="27212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635240" y="373075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Reason, don’t guess</a:t>
            </a: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7635240" y="407822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I change session booking, what else breaks?” — answerable.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6675120" y="4800600"/>
            <a:ext cx="4846320" cy="1078992"/>
          </a:xfrm>
          <a:prstGeom prst="roundRect">
            <a:avLst>
              <a:gd name="adj" fmla="val 6780"/>
            </a:avLst>
          </a:prstGeom>
          <a:solidFill>
            <a:srgbClr val="13241F"/>
          </a:solidFill>
          <a:ln w="12700">
            <a:solidFill>
              <a:srgbClr val="1F3A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8"/>
          <p:cNvSpPr/>
          <p:nvPr/>
        </p:nvSpPr>
        <p:spPr>
          <a:xfrm>
            <a:off x="6894576" y="5056632"/>
            <a:ext cx="566928" cy="566928"/>
          </a:xfrm>
          <a:prstGeom prst="ellipse">
            <a:avLst/>
          </a:prstGeom>
          <a:solidFill>
            <a:srgbClr val="1F3A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1977" y="5204033"/>
            <a:ext cx="272125" cy="272125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635240" y="496519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Fewer tokens, less drift</a:t>
            </a:r>
            <a:endParaRPr lang="en-US" sz="1600" dirty="0"/>
          </a:p>
        </p:txBody>
      </p:sp>
      <p:sp>
        <p:nvSpPr>
          <p:cNvPr id="40" name="Text 30"/>
          <p:cNvSpPr/>
          <p:nvPr/>
        </p:nvSpPr>
        <p:spPr>
          <a:xfrm>
            <a:off x="7635240" y="531266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the map to the right files instead of re-scanning the repo.</a:t>
            </a:r>
            <a:endParaRPr lang="en-US" sz="1200" dirty="0"/>
          </a:p>
        </p:txBody>
      </p:sp>
      <p:sp>
        <p:nvSpPr>
          <p:cNvPr id="41" name="Text 31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42" name="Shape 5">
            <a:extLst>
              <a:ext uri="{FF2B5EF4-FFF2-40B4-BE49-F238E27FC236}">
                <a16:creationId xmlns:a16="http://schemas.microsoft.com/office/drawing/2014/main" id="{868BE9CB-BE5A-E7C2-1C7F-B220DA53BD86}"/>
              </a:ext>
            </a:extLst>
          </p:cNvPr>
          <p:cNvSpPr/>
          <p:nvPr/>
        </p:nvSpPr>
        <p:spPr>
          <a:xfrm flipH="1" flipV="1">
            <a:off x="1472642" y="3005632"/>
            <a:ext cx="1191919" cy="769925"/>
          </a:xfrm>
          <a:prstGeom prst="line">
            <a:avLst/>
          </a:prstGeom>
          <a:noFill/>
          <a:ln w="25400">
            <a:solidFill>
              <a:srgbClr val="1F3A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IN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Graphify: a graph for a large Java codebase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500-file Interview Buddy monolith, re-reading files every query burns tokens and misses links. Graphify (an open-source agent skill) builds the graph once, up front, so the agent rides the map instead of re-scanning.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59359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635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32688" y="2624328"/>
            <a:ext cx="658368" cy="658368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864" y="2795504"/>
            <a:ext cx="316017" cy="316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71576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 · Parse locally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3410712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Tree-sitter reads every Java file, SQL schema &amp; doc — no code leaves your machine.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215384" y="294894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480560" y="2331720"/>
            <a:ext cx="359359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635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73168" y="2624328"/>
            <a:ext cx="658368" cy="658368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4344" y="2795504"/>
            <a:ext cx="316017" cy="31601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271576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 · Build the graph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800600" y="3410712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edges (imports, calls, contains) + community clustering across the repo.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8055864" y="294894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3"/>
          <p:cNvSpPr/>
          <p:nvPr/>
        </p:nvSpPr>
        <p:spPr>
          <a:xfrm>
            <a:off x="8321040" y="2331720"/>
            <a:ext cx="359359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635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613648" y="2624328"/>
            <a:ext cx="658368" cy="658368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4824" y="2795504"/>
            <a:ext cx="316017" cy="31601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418320" y="271576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 · Agent queries it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641080" y="3410712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depends on InterviewService?” answered from the graph, not a full scan.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40080" y="4434840"/>
            <a:ext cx="3246120" cy="1691640"/>
          </a:xfrm>
          <a:prstGeom prst="roundRect">
            <a:avLst>
              <a:gd name="adj" fmla="val 5405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640080" y="45720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up to 70×</a:t>
            </a:r>
            <a:endParaRPr lang="en-US" sz="3800" dirty="0"/>
          </a:p>
        </p:txBody>
      </p:sp>
      <p:sp>
        <p:nvSpPr>
          <p:cNvPr id="24" name="Text 19"/>
          <p:cNvSpPr/>
          <p:nvPr/>
        </p:nvSpPr>
        <p:spPr>
          <a:xfrm>
            <a:off x="868680" y="53492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E2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tokens querying a 500+ file project vs. re-reading files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4069080" y="4434840"/>
            <a:ext cx="7543800" cy="1691640"/>
          </a:xfrm>
          <a:prstGeom prst="roundRect">
            <a:avLst>
              <a:gd name="adj" fmla="val 5405"/>
            </a:avLst>
          </a:prstGeom>
          <a:solidFill>
            <a:srgbClr val="0E1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4343400" y="4681728"/>
            <a:ext cx="566928" cy="566928"/>
          </a:xfrm>
          <a:prstGeom prst="ellipse">
            <a:avLst/>
          </a:prstGeom>
          <a:solidFill>
            <a:srgbClr val="1F3A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0801" y="4829129"/>
            <a:ext cx="272125" cy="27212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074920" y="464515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teams like it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5074920" y="502920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</a:t>
            </a: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/ private</a:t>
            </a:r>
            <a:r>
              <a:rPr lang="en-US" sz="13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 API calls)  ·  saves to </a:t>
            </a: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the whole team queries</a:t>
            </a:r>
            <a:r>
              <a:rPr lang="en-US" sz="13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edges tagged </a:t>
            </a:r>
            <a:r>
              <a:rPr lang="en-US" sz="13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EXTRACTED / INFERRED</a:t>
            </a:r>
            <a:r>
              <a:rPr lang="en-US" sz="13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you know what was found vs. guessed.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MILE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a verified change to production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specs and graphs get the agent to good code. Shipping it safely is the rest of the title — the same guardrails you already trust, with the agent doing the heavy lifting and you holding the gate.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084832" cy="224028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16736" y="2587752"/>
            <a:ext cx="731520" cy="731520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931" y="2777947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42900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Verify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86384" y="3794760"/>
            <a:ext cx="17922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build run green against the spec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688336" y="317754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889504" y="2331720"/>
            <a:ext cx="2084832" cy="224028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566160" y="2587752"/>
            <a:ext cx="731520" cy="731520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6355" y="2777947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89504" y="342900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Review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035808" y="3794760"/>
            <a:ext cx="17922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sub-agent flags a PII-in-log case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937760" y="317754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5138928" y="2331720"/>
            <a:ext cx="2084832" cy="224028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815584" y="2587752"/>
            <a:ext cx="731520" cy="731520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5779" y="2777947"/>
            <a:ext cx="351130" cy="35113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38928" y="342900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Human gate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5285232" y="3794760"/>
            <a:ext cx="17922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approve the PR — the call stays yours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7187184" y="317754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7388352" y="2331720"/>
            <a:ext cx="2084832" cy="224028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8065008" y="2587752"/>
            <a:ext cx="731520" cy="731520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5203" y="2777947"/>
            <a:ext cx="351130" cy="35113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88352" y="342900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CI/CD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534656" y="3794760"/>
            <a:ext cx="17922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builds, scans and deploys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9436608" y="317754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9" name="Shape 23"/>
          <p:cNvSpPr/>
          <p:nvPr/>
        </p:nvSpPr>
        <p:spPr>
          <a:xfrm>
            <a:off x="9637776" y="2331720"/>
            <a:ext cx="2084832" cy="224028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10314432" y="2587752"/>
            <a:ext cx="731520" cy="731520"/>
          </a:xfrm>
          <a:prstGeom prst="ellipse">
            <a:avLst/>
          </a:prstGeom>
          <a:solidFill>
            <a:srgbClr val="E7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04627" y="2777947"/>
            <a:ext cx="351130" cy="35113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637776" y="342900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Production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9784080" y="3794760"/>
            <a:ext cx="17922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is live; webhook pings the team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40080" y="4892040"/>
            <a:ext cx="10972800" cy="1143000"/>
          </a:xfrm>
          <a:prstGeom prst="roundRect">
            <a:avLst>
              <a:gd name="adj" fmla="val 8000"/>
            </a:avLst>
          </a:prstGeom>
          <a:solidFill>
            <a:srgbClr val="0E1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914400" y="5120640"/>
            <a:ext cx="640080" cy="640080"/>
          </a:xfrm>
          <a:prstGeom prst="ellipse">
            <a:avLst/>
          </a:prstGeom>
          <a:solidFill>
            <a:srgbClr val="1F3A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0821" y="5287061"/>
            <a:ext cx="307238" cy="30723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691640" y="5029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pipeline:  </a:t>
            </a:r>
            <a:r>
              <a:rPr lang="en-US" sz="14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→ agent loop → verify → review → your approval → ship. The agent moves fast; the gates keep it safe. That’s “from specs to production with AI agents.”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D23EA7-A100-8389-3F3A-867BEF900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572" y="397505"/>
            <a:ext cx="5291667" cy="52916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E5C254-6A55-8887-2C04-D24410D753EC}"/>
              </a:ext>
            </a:extLst>
          </p:cNvPr>
          <p:cNvSpPr txBox="1"/>
          <p:nvPr/>
        </p:nvSpPr>
        <p:spPr>
          <a:xfrm>
            <a:off x="4811047" y="5927877"/>
            <a:ext cx="2048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Sumanth </a:t>
            </a:r>
            <a:r>
              <a:rPr lang="en-US" dirty="0" err="1"/>
              <a:t>Srivarma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7269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34343B-839A-EA14-C15F-B535D1E95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067" y="538239"/>
            <a:ext cx="5291666" cy="52916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751C7F-9301-7FBA-08DC-D3DAC8DE00FF}"/>
              </a:ext>
            </a:extLst>
          </p:cNvPr>
          <p:cNvSpPr txBox="1"/>
          <p:nvPr/>
        </p:nvSpPr>
        <p:spPr>
          <a:xfrm>
            <a:off x="5025482" y="5950429"/>
            <a:ext cx="15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Giridhar Gopal</a:t>
            </a:r>
          </a:p>
        </p:txBody>
      </p:sp>
    </p:spTree>
    <p:extLst>
      <p:ext uri="{BB962C8B-B14F-4D97-AF65-F5344CB8AC3E}">
        <p14:creationId xmlns:p14="http://schemas.microsoft.com/office/powerpoint/2010/main" val="317229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4132</TotalTime>
  <Words>2488</Words>
  <Application>Microsoft Macintosh PowerPoint</Application>
  <PresentationFormat>Widescreen</PresentationFormat>
  <Paragraphs>342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Century Schoolbook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Development for Java Teams</dc:title>
  <dc:subject>PptxGenJS Presentation</dc:subject>
  <dc:creator>Java Meetup</dc:creator>
  <cp:lastModifiedBy>Sumanth Kalakodu Srivarma (DevOn)</cp:lastModifiedBy>
  <cp:revision>4</cp:revision>
  <dcterms:created xsi:type="dcterms:W3CDTF">2026-06-26T13:27:59Z</dcterms:created>
  <dcterms:modified xsi:type="dcterms:W3CDTF">2026-06-29T12:35:39Z</dcterms:modified>
</cp:coreProperties>
</file>